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80" r:id="rId12"/>
    <p:sldId id="268" r:id="rId13"/>
    <p:sldId id="269" r:id="rId14"/>
    <p:sldId id="270" r:id="rId15"/>
    <p:sldId id="271" r:id="rId16"/>
    <p:sldId id="272" r:id="rId17"/>
    <p:sldId id="279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784975" cy="9917113"/>
  <p:embeddedFontLst>
    <p:embeddedFont>
      <p:font typeface="Times" panose="02020603050405020304" pitchFamily="18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標楷體" panose="03000509000000000000" pitchFamily="65" charset="-12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iODD2wy7w7KJsXEOgAJakTnM6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12DD1A-9E72-4A71-84A1-A7A80AC88F0D}">
  <a:tblStyle styleId="{D812DD1A-9E72-4A71-84A1-A7A80AC88F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962" autoAdjust="0"/>
  </p:normalViewPr>
  <p:slideViewPr>
    <p:cSldViewPr snapToGrid="0">
      <p:cViewPr varScale="1">
        <p:scale>
          <a:sx n="71" d="100"/>
          <a:sy n="71" d="100"/>
        </p:scale>
        <p:origin x="178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16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1750" y="0"/>
            <a:ext cx="29416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5987" y="744537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250" cy="446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0225"/>
            <a:ext cx="29416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1750" y="9420225"/>
            <a:ext cx="29416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/>
        </p:nvSpPr>
        <p:spPr>
          <a:xfrm>
            <a:off x="3841750" y="9420225"/>
            <a:ext cx="29416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250" cy="446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250" cy="446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 txBox="1"/>
          <p:nvPr/>
        </p:nvSpPr>
        <p:spPr>
          <a:xfrm>
            <a:off x="3841750" y="9420225"/>
            <a:ext cx="29416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3ac9afb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13ac9afb1b_0_0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13ac9afb1b_0_0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6f245ea82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2f6f245ea82_2_11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高斯約束層</a:t>
            </a:r>
            <a:endParaRPr/>
          </a:p>
        </p:txBody>
      </p:sp>
      <p:sp>
        <p:nvSpPr>
          <p:cNvPr id="130" name="Google Shape;130;g2f6f245ea82_2_11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38bcdfad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138bcdfad6_0_78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138bcdfad6_0_78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38bcdfad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138bcdfad6_0_35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138bcdfad6_0_35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16e1207ff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016e1207ff_3_35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016e1207ff_3_35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16e1207ff_3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016e1207ff_3_43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016e1207ff_3_43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38bcdfad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138bcdfad6_0_56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138bcdfad6_0_56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38bcdfad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138bcdfad6_0_56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138bcdfad6_0_56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8107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3bde218bd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g313bde218bd_1_53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13bde218bd_1_53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13bde218bd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313bde218bd_1_66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313bde218bd_1_66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16e1207ff_3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3016e1207ff_3_174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GCL 透過可學習的高斯核進行強化，自然地優先考慮每個點的局部環境，從而有效增強了跨幀匹配的特徵區分度。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GCL 可以獲得細粒度的結構資訊和用於特徵匹配的局部判別表示。</a:t>
            </a:r>
            <a:endParaRPr/>
          </a:p>
        </p:txBody>
      </p:sp>
      <p:sp>
        <p:nvSpPr>
          <p:cNvPr id="244" name="Google Shape;244;g3016e1207ff_3_174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835d13280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g2835d13280e_2_0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2835d13280e_2_0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835d13280e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2835d13280e_1_69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x為input，LN(·) 表示Transformer中的layer normalization ，FFN(·)表示前饋網絡，GCA(·) 表示高斯約束注意力(GCL中的核心組件)。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將GCA公式化為一種任務特定的局部操作，這不僅避免了全局誤導context，還降低了注意力計算的複雜性。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x’ = LN(x)，L()表示第i個head的線性投影，GA(·) 是高斯注意力函數。</a:t>
            </a:r>
            <a:endParaRPr sz="1200"/>
          </a:p>
        </p:txBody>
      </p:sp>
      <p:sp>
        <p:nvSpPr>
          <p:cNvPr id="273" name="Google Shape;273;g2835d13280e_1_69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835d13280e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2835d13280e_1_60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GA(·) </a:t>
            </a:r>
            <a:r>
              <a:rPr lang="en-US" sz="1200" dirty="0" err="1"/>
              <a:t>是高斯注意力函數，它的輸入</a:t>
            </a:r>
            <a:r>
              <a:rPr lang="en-US" sz="1200" dirty="0"/>
              <a:t>​</a:t>
            </a:r>
            <a:r>
              <a:rPr lang="en-US" sz="1200" dirty="0" err="1"/>
              <a:t>為特徵</a:t>
            </a:r>
            <a:r>
              <a:rPr lang="en-US" sz="1200" dirty="0"/>
              <a:t> Q​ </a:t>
            </a:r>
            <a:r>
              <a:rPr lang="en-US" sz="1200" dirty="0" err="1"/>
              <a:t>及以其查詢對應的key</a:t>
            </a:r>
            <a:r>
              <a:rPr lang="en-US" sz="1200" dirty="0"/>
              <a:t> K​ </a:t>
            </a:r>
            <a:r>
              <a:rPr lang="en-US" sz="1200" dirty="0" err="1"/>
              <a:t>和value</a:t>
            </a:r>
            <a:r>
              <a:rPr lang="en-US" sz="1200" dirty="0"/>
              <a:t> V。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Glr</a:t>
            </a:r>
            <a:r>
              <a:rPr lang="en-US" sz="1200" dirty="0"/>
              <a:t>​ </a:t>
            </a:r>
            <a:r>
              <a:rPr lang="en-US" sz="1200" dirty="0" err="1"/>
              <a:t>表示形狀為</a:t>
            </a:r>
            <a:r>
              <a:rPr lang="en-US" sz="1200" dirty="0"/>
              <a:t> </a:t>
            </a:r>
            <a:r>
              <a:rPr lang="en-US" sz="1200" dirty="0" err="1"/>
              <a:t>k×k</a:t>
            </a:r>
            <a:r>
              <a:rPr lang="en-US" sz="1200" dirty="0"/>
              <a:t> </a:t>
            </a:r>
            <a:r>
              <a:rPr lang="en-US" sz="1200" dirty="0" err="1"/>
              <a:t>的可學習高斯核。它初始化為標準高斯分布，並可通過在模型訓練過程中加入可學習幅度矩陣</a:t>
            </a:r>
            <a:r>
              <a:rPr lang="en-US" sz="1200" dirty="0"/>
              <a:t> A </a:t>
            </a:r>
            <a:r>
              <a:rPr lang="en-US" sz="1200" dirty="0" err="1"/>
              <a:t>來進行更新。在推理過程中，Glr</a:t>
            </a:r>
            <a:r>
              <a:rPr lang="en-US" sz="1200" dirty="0"/>
              <a:t>​ </a:t>
            </a:r>
            <a:r>
              <a:rPr lang="en-US" sz="1200" dirty="0" err="1"/>
              <a:t>作為約束掩碼</a:t>
            </a:r>
            <a:r>
              <a:rPr lang="en-US" sz="1200" dirty="0"/>
              <a:t>(constraint mask)</a:t>
            </a:r>
            <a:r>
              <a:rPr lang="en-US" sz="1200" dirty="0" err="1"/>
              <a:t>來重新組織注意特徵聚合</a:t>
            </a:r>
            <a:r>
              <a:rPr lang="en-US" sz="1200" dirty="0"/>
              <a:t>(attentive feature aggregation)</a:t>
            </a:r>
            <a:r>
              <a:rPr lang="en-US" sz="1200" dirty="0" err="1"/>
              <a:t>的權重</a:t>
            </a:r>
            <a:r>
              <a:rPr lang="en-US" sz="1200" dirty="0"/>
              <a:t>。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設點p處pixel的neighborhood為</a:t>
            </a:r>
            <a:r>
              <a:rPr lang="en-US" sz="1200" dirty="0"/>
              <a:t> N(p)；</a:t>
            </a:r>
            <a:r>
              <a:rPr lang="en-US" sz="1200" dirty="0" err="1"/>
              <a:t>則hp為單個pixel的注意力</a:t>
            </a:r>
            <a:r>
              <a:rPr lang="en-US" sz="1200" dirty="0"/>
              <a:t>。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範圍可以隨著</a:t>
            </a:r>
            <a:r>
              <a:rPr lang="en-US" sz="1200" dirty="0"/>
              <a:t> N(p) </a:t>
            </a:r>
            <a:r>
              <a:rPr lang="en-US" sz="1200" dirty="0" err="1"/>
              <a:t>的區域變化而擴展。例如，它可以擴展到所有像素（即</a:t>
            </a:r>
            <a:r>
              <a:rPr lang="en-US" sz="1200" dirty="0"/>
              <a:t> N(p) </a:t>
            </a:r>
            <a:r>
              <a:rPr lang="en-US" sz="1200" dirty="0" err="1"/>
              <a:t>等同於影像大小</a:t>
            </a:r>
            <a:r>
              <a:rPr lang="en-US" sz="1200" dirty="0"/>
              <a:t>），</a:t>
            </a:r>
            <a:r>
              <a:rPr lang="en-US" sz="1200" dirty="0" err="1"/>
              <a:t>從而以高斯約束的方式實現全局自注意力</a:t>
            </a:r>
            <a:r>
              <a:rPr lang="en-US" sz="1200" dirty="0"/>
              <a:t>。</a:t>
            </a:r>
            <a:endParaRPr sz="1200" dirty="0"/>
          </a:p>
        </p:txBody>
      </p:sp>
      <p:sp>
        <p:nvSpPr>
          <p:cNvPr id="284" name="Google Shape;284;g2835d13280e_1_60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774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8953982d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g318953982dc_0_80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18953982dc_0_80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1183c9bf7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1183c9bf7c_0_28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1183c9bf7c_0_28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156523b3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3156523b3fe_0_0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156523b3fe_0_0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3bde218bd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g313bde218bd_1_85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4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13bde218bd_1_85:notes"/>
          <p:cNvSpPr txBox="1"/>
          <p:nvPr/>
        </p:nvSpPr>
        <p:spPr>
          <a:xfrm>
            <a:off x="3841750" y="9420225"/>
            <a:ext cx="2941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4587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21:notes"/>
          <p:cNvSpPr txBox="1">
            <a:spLocks noGrp="1"/>
          </p:cNvSpPr>
          <p:nvPr>
            <p:ph type="body" idx="1"/>
          </p:nvPr>
        </p:nvSpPr>
        <p:spPr>
          <a:xfrm>
            <a:off x="677862" y="4710112"/>
            <a:ext cx="5429250" cy="446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1:notes"/>
          <p:cNvSpPr txBox="1"/>
          <p:nvPr/>
        </p:nvSpPr>
        <p:spPr>
          <a:xfrm>
            <a:off x="3841750" y="9420225"/>
            <a:ext cx="29416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6553200" y="6240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684212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685800" y="22098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，1 個大物件與 2 個小物件" type="objAndTwoObj">
  <p:cSld name="OBJECT_AND_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684213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685800" y="2209800"/>
            <a:ext cx="381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4648200" y="2209800"/>
            <a:ext cx="38100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4648200" y="4229100"/>
            <a:ext cx="38100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>
            <a:spLocks noGrp="1"/>
          </p:cNvSpPr>
          <p:nvPr>
            <p:ph type="title"/>
          </p:nvPr>
        </p:nvSpPr>
        <p:spPr>
          <a:xfrm rot="5400000">
            <a:off x="4779963" y="2341563"/>
            <a:ext cx="5546725" cy="19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 rot="5400000">
            <a:off x="778669" y="454819"/>
            <a:ext cx="5546725" cy="573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684212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body" idx="1"/>
          </p:nvPr>
        </p:nvSpPr>
        <p:spPr>
          <a:xfrm rot="5400000">
            <a:off x="2628900" y="266700"/>
            <a:ext cx="38862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9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9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>
            <a:off x="684212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4"/>
          <p:cNvSpPr txBox="1">
            <a:spLocks noGrp="1"/>
          </p:cNvSpPr>
          <p:nvPr>
            <p:ph type="title"/>
          </p:nvPr>
        </p:nvSpPr>
        <p:spPr>
          <a:xfrm>
            <a:off x="684212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4"/>
          <p:cNvSpPr txBox="1">
            <a:spLocks noGrp="1"/>
          </p:cNvSpPr>
          <p:nvPr>
            <p:ph type="body" idx="1"/>
          </p:nvPr>
        </p:nvSpPr>
        <p:spPr>
          <a:xfrm>
            <a:off x="685800" y="2209800"/>
            <a:ext cx="381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4"/>
          <p:cNvSpPr txBox="1">
            <a:spLocks noGrp="1"/>
          </p:cNvSpPr>
          <p:nvPr>
            <p:ph type="body" idx="2"/>
          </p:nvPr>
        </p:nvSpPr>
        <p:spPr>
          <a:xfrm>
            <a:off x="4648200" y="2209800"/>
            <a:ext cx="3810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4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5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8" name="Google Shape;98;p3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body" idx="1"/>
          </p:nvPr>
        </p:nvSpPr>
        <p:spPr>
          <a:xfrm>
            <a:off x="685800" y="22098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title"/>
          </p:nvPr>
        </p:nvSpPr>
        <p:spPr>
          <a:xfrm>
            <a:off x="684212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6553200" y="6240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/>
        </p:nvSpPr>
        <p:spPr>
          <a:xfrm>
            <a:off x="6156325" y="4864100"/>
            <a:ext cx="2987675" cy="1989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" name="Google Shape;23;p24"/>
          <p:cNvSpPr txBox="1"/>
          <p:nvPr/>
        </p:nvSpPr>
        <p:spPr>
          <a:xfrm>
            <a:off x="0" y="0"/>
            <a:ext cx="5795962" cy="1628775"/>
          </a:xfrm>
          <a:prstGeom prst="rect">
            <a:avLst/>
          </a:prstGeom>
          <a:gradFill>
            <a:gsLst>
              <a:gs pos="0">
                <a:srgbClr val="FFFFFF">
                  <a:alpha val="57647"/>
                </a:srgbClr>
              </a:gs>
              <a:gs pos="100000">
                <a:srgbClr val="FFFFFF">
                  <a:alpha val="5764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" name="Google Shape;24;p24"/>
          <p:cNvSpPr txBox="1">
            <a:spLocks noGrp="1"/>
          </p:cNvSpPr>
          <p:nvPr>
            <p:ph type="body" idx="1"/>
          </p:nvPr>
        </p:nvSpPr>
        <p:spPr>
          <a:xfrm>
            <a:off x="685800" y="22098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Times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ldNum" idx="12"/>
          </p:nvPr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4"/>
          <p:cNvSpPr txBox="1"/>
          <p:nvPr/>
        </p:nvSpPr>
        <p:spPr>
          <a:xfrm>
            <a:off x="0" y="0"/>
            <a:ext cx="2700337" cy="1628775"/>
          </a:xfrm>
          <a:prstGeom prst="rect">
            <a:avLst/>
          </a:prstGeom>
          <a:gradFill>
            <a:gsLst>
              <a:gs pos="0">
                <a:srgbClr val="FF9900">
                  <a:alpha val="46666"/>
                </a:srgbClr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684212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vQoOJm1_jlB2-StB6aAVzC9p8V0bN34a/view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1149700" y="1095250"/>
            <a:ext cx="7060500" cy="30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4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/>
              <a:t>A Modified Optical Flow Estimation Approach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2013325" y="3887425"/>
            <a:ext cx="6806700" cy="1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 sz="2400" dirty="0"/>
              <a:t>410410004   </a:t>
            </a:r>
            <a:r>
              <a:rPr lang="en-US" sz="2400" dirty="0" err="1"/>
              <a:t>Pin-Hsiu</a:t>
            </a:r>
            <a:r>
              <a:rPr lang="en-US" sz="2400" dirty="0"/>
              <a:t> Lin  </a:t>
            </a:r>
            <a:r>
              <a:rPr lang="en-US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林品秀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 sz="2400" dirty="0"/>
              <a:t>410410057   Yu-Ren Wang  </a:t>
            </a:r>
            <a:r>
              <a:rPr lang="en-US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王昱人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lang="en-US" sz="2400" dirty="0"/>
              <a:t>410410086   Chen-Yu </a:t>
            </a:r>
            <a:r>
              <a:rPr lang="en-US" sz="2400" dirty="0" err="1"/>
              <a:t>Ko</a:t>
            </a:r>
            <a:r>
              <a:rPr lang="en-US" sz="2400" dirty="0"/>
              <a:t>  </a:t>
            </a:r>
            <a:r>
              <a:rPr lang="en-US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柯宸瑀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endParaRPr sz="2400"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</a:pPr>
            <a:endParaRPr sz="24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41400" y="5277950"/>
            <a:ext cx="8993100" cy="13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Information Engineering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Chung Cheng University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fld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684212" y="549275"/>
            <a:ext cx="785018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684212" y="1989137"/>
            <a:ext cx="7632700" cy="38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FlowFormer++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092950" y="6205537"/>
            <a:ext cx="190500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3ac9afb1b_0_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fld>
            <a:endParaRPr/>
          </a:p>
        </p:txBody>
      </p:sp>
      <p:sp>
        <p:nvSpPr>
          <p:cNvPr id="124" name="Google Shape;124;g313ac9afb1b_0_0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13ac9afb1b_0_0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Optical flow estimation aims to find the 2D dense motion fields between two video frames.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optical flow estimation methods often rely on local clues, resulting in fragmented motion estimation results.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study, segment anything model (SAM) is employed to cope with the above-mentioned problem. Additionally, the Gaussian constrained layer (GCL) is employed to emphasize local properties and motion affinity.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13ac9afb1b_0_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6f245ea82_2_11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fld>
            <a:endParaRPr/>
          </a:p>
        </p:txBody>
      </p:sp>
      <p:sp>
        <p:nvSpPr>
          <p:cNvPr id="133" name="Google Shape;133;g2f6f245ea82_2_11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FlowFormer++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2f6f245ea82_2_11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g2f6f245ea82_2_11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fld>
            <a:endParaRPr/>
          </a:p>
        </p:txBody>
      </p:sp>
      <p:sp>
        <p:nvSpPr>
          <p:cNvPr id="136" name="Google Shape;136;g2f6f245ea82_2_11"/>
          <p:cNvSpPr txBox="1"/>
          <p:nvPr/>
        </p:nvSpPr>
        <p:spPr>
          <a:xfrm>
            <a:off x="2258401" y="5359000"/>
            <a:ext cx="46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Fig. 1.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FlowFormer++ architecture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/>
          </a:p>
        </p:txBody>
      </p:sp>
      <p:pic>
        <p:nvPicPr>
          <p:cNvPr id="137" name="Google Shape;137;g2f6f245ea82_2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88" y="2210200"/>
            <a:ext cx="8614426" cy="30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38bcdfad6_0_78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fld>
            <a:endParaRPr/>
          </a:p>
        </p:txBody>
      </p:sp>
      <p:sp>
        <p:nvSpPr>
          <p:cNvPr id="162" name="Google Shape;162;g3138bcdfad6_0_78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</a:t>
            </a:r>
            <a:r>
              <a:rPr lang="en-US" sz="3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 dirty="0"/>
          </a:p>
        </p:txBody>
      </p:sp>
      <p:sp>
        <p:nvSpPr>
          <p:cNvPr id="163" name="Google Shape;163;g3138bcdfad6_0_78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fld>
            <a:endParaRPr/>
          </a:p>
        </p:txBody>
      </p:sp>
      <p:sp>
        <p:nvSpPr>
          <p:cNvPr id="164" name="Google Shape;164;g3138bcdfad6_0_78"/>
          <p:cNvSpPr txBox="1"/>
          <p:nvPr/>
        </p:nvSpPr>
        <p:spPr>
          <a:xfrm>
            <a:off x="2295651" y="5972900"/>
            <a:ext cx="462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Fig.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Framework of the proposed 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pproach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/>
          </a:p>
        </p:txBody>
      </p:sp>
      <p:pic>
        <p:nvPicPr>
          <p:cNvPr id="165" name="Google Shape;165;g3138bcdfad6_0_78"/>
          <p:cNvPicPr preferRelativeResize="0"/>
          <p:nvPr/>
        </p:nvPicPr>
        <p:blipFill rotWithShape="1">
          <a:blip r:embed="rId3">
            <a:alphaModFix/>
          </a:blip>
          <a:srcRect l="59" r="49"/>
          <a:stretch/>
        </p:blipFill>
        <p:spPr>
          <a:xfrm>
            <a:off x="152400" y="2072700"/>
            <a:ext cx="8839204" cy="3823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38bcdfad6_0_35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fld>
            <a:endParaRPr/>
          </a:p>
        </p:txBody>
      </p:sp>
      <p:sp>
        <p:nvSpPr>
          <p:cNvPr id="172" name="Google Shape;172;g3138bcdfad6_0_35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/>
          </a:p>
        </p:txBody>
      </p:sp>
      <p:sp>
        <p:nvSpPr>
          <p:cNvPr id="173" name="Google Shape;173;g3138bcdfad6_0_35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pretrained SAMFlow architecture containing context fusion module (CFM) and context adaption module (CAM) is shown in Fig. 3.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138bcdfad6_0_35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fld>
            <a:endParaRPr/>
          </a:p>
        </p:txBody>
      </p:sp>
      <p:sp>
        <p:nvSpPr>
          <p:cNvPr id="175" name="Google Shape;175;g3138bcdfad6_0_35"/>
          <p:cNvSpPr txBox="1"/>
          <p:nvPr/>
        </p:nvSpPr>
        <p:spPr>
          <a:xfrm>
            <a:off x="1555800" y="5339900"/>
            <a:ext cx="603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The pretrained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SAMflow architecture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/>
          </a:p>
        </p:txBody>
      </p:sp>
      <p:pic>
        <p:nvPicPr>
          <p:cNvPr id="176" name="Google Shape;176;g3138bcdfad6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5" y="3659200"/>
            <a:ext cx="8997950" cy="154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16e1207ff_3_35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</a:t>
            </a:fld>
            <a:endParaRPr/>
          </a:p>
        </p:txBody>
      </p:sp>
      <p:sp>
        <p:nvSpPr>
          <p:cNvPr id="183" name="Google Shape;183;g3016e1207ff_3_35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g3016e1207ff_3_35"/>
          <p:cNvSpPr txBox="1"/>
          <p:nvPr/>
        </p:nvSpPr>
        <p:spPr>
          <a:xfrm>
            <a:off x="684200" y="1989123"/>
            <a:ext cx="7632600" cy="44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fusion module (CFM)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fuses outputs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SAM encoder and context encoder to prevent task mismatch of local features and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effectiveness of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SAMFlow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CFM will combine global understanding extracted by SAM encoder and local clues extracted by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SAM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 and context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g3016e1207ff_3_35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16e1207ff_3_43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fld>
            <a:endParaRPr/>
          </a:p>
        </p:txBody>
      </p:sp>
      <p:sp>
        <p:nvSpPr>
          <p:cNvPr id="192" name="Google Shape;192;g3016e1207ff_3_43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g3016e1207ff_3_43"/>
          <p:cNvSpPr txBox="1"/>
          <p:nvPr/>
        </p:nvSpPr>
        <p:spPr>
          <a:xfrm>
            <a:off x="684200" y="1989123"/>
            <a:ext cx="7632600" cy="44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CFM combines SAM encoder and context encoder to  extract more comprehensive features: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016e1207ff_3_43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fld>
            <a:endParaRPr/>
          </a:p>
        </p:txBody>
      </p:sp>
      <p:pic>
        <p:nvPicPr>
          <p:cNvPr id="195" name="Google Shape;195;g3016e1207ff_3_43"/>
          <p:cNvPicPr preferRelativeResize="0"/>
          <p:nvPr/>
        </p:nvPicPr>
        <p:blipFill rotWithShape="1">
          <a:blip r:embed="rId3">
            <a:alphaModFix/>
          </a:blip>
          <a:srcRect l="34126" t="37752" r="35546" b="30143"/>
          <a:stretch/>
        </p:blipFill>
        <p:spPr>
          <a:xfrm>
            <a:off x="2356313" y="2906638"/>
            <a:ext cx="4431374" cy="263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38bcdfad6_0_56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fld>
            <a:endParaRPr/>
          </a:p>
        </p:txBody>
      </p:sp>
      <p:sp>
        <p:nvSpPr>
          <p:cNvPr id="202" name="Google Shape;202;g3138bcdfad6_0_56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138bcdfad6_0_56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adaption module (CAM) can better utilize the task specific knowledge to accomplish task adaption of optical flow estimation.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task-specific embedding (LTSE) tokens are employed to store some task specific priors of optical flow, and two two-way attention (TWA) blocks are employed to inject those priors into context features for adaption.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3138bcdfad6_0_56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38bcdfad6_0_56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fld>
            <a:endParaRPr/>
          </a:p>
        </p:txBody>
      </p:sp>
      <p:sp>
        <p:nvSpPr>
          <p:cNvPr id="202" name="Google Shape;202;g3138bcdfad6_0_56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138bcdfad6_0_56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altLang="zh-TW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LTSE 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containing a set of learnable offsets of shape 3×256 will be automatically optimized during the training </a:t>
            </a:r>
            <a:r>
              <a:rPr lang="en-US" altLang="zh-TW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process.</a:t>
            </a:r>
            <a:endParaRPr sz="2400" dirty="0" smtClean="0"/>
          </a:p>
          <a:p>
            <a:pPr marL="342900" indent="-342900" algn="just">
              <a:spcBef>
                <a:spcPts val="1200"/>
              </a:spcBef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altLang="zh-TW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shown in Fig. 4, each TWA block contains four sub-blocks:</a:t>
            </a:r>
          </a:p>
          <a:p>
            <a:pPr marR="0" lvl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3138bcdfad6_0_56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fld>
            <a:endParaRPr/>
          </a:p>
        </p:txBody>
      </p:sp>
      <p:pic>
        <p:nvPicPr>
          <p:cNvPr id="6" name="Google Shape;214;g318953982dc_0_13"/>
          <p:cNvPicPr preferRelativeResize="0"/>
          <p:nvPr/>
        </p:nvPicPr>
        <p:blipFill rotWithShape="1">
          <a:blip r:embed="rId3">
            <a:alphaModFix/>
          </a:blip>
          <a:srcRect t="7876" b="6042"/>
          <a:stretch/>
        </p:blipFill>
        <p:spPr>
          <a:xfrm>
            <a:off x="2061924" y="3788218"/>
            <a:ext cx="5020150" cy="26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5;g318953982dc_0_13"/>
          <p:cNvSpPr txBox="1"/>
          <p:nvPr/>
        </p:nvSpPr>
        <p:spPr>
          <a:xfrm>
            <a:off x="1555800" y="6493305"/>
            <a:ext cx="603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Fig. </a:t>
            </a:r>
            <a:r>
              <a:rPr lang="en-US" sz="18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1800" b="0" i="0" u="none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r>
              <a:rPr lang="en-US" sz="18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Architecture of TWA block.</a:t>
            </a:r>
            <a:endParaRPr sz="18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47459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3bde218bd_1_53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11</a:t>
            </a:fld>
            <a:endParaRPr/>
          </a:p>
        </p:txBody>
      </p:sp>
      <p:sp>
        <p:nvSpPr>
          <p:cNvPr id="222" name="Google Shape;222;g313bde218bd_1_53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313bde218bd_1_53"/>
          <p:cNvSpPr txBox="1"/>
          <p:nvPr/>
        </p:nvSpPr>
        <p:spPr>
          <a:xfrm>
            <a:off x="684200" y="1989123"/>
            <a:ext cx="7632600" cy="4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self-attention layer (1st sub-block) is used to reorganize the embedding of optical flow estimation task    (the output of LTSE):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       denotes positional embedding.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cross-attention layer (2nd sub-block) is used to adapt the embedding with context features: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       denotes the output of CFM.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313bde218bd_1_53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11</a:t>
            </a:fld>
            <a:endParaRPr/>
          </a:p>
        </p:txBody>
      </p:sp>
      <p:pic>
        <p:nvPicPr>
          <p:cNvPr id="225" name="Google Shape;225;g313bde218bd_1_53"/>
          <p:cNvPicPr preferRelativeResize="0"/>
          <p:nvPr/>
        </p:nvPicPr>
        <p:blipFill rotWithShape="1">
          <a:blip r:embed="rId3">
            <a:alphaModFix/>
          </a:blip>
          <a:srcRect l="54701" t="37167" r="4058" b="54291"/>
          <a:stretch/>
        </p:blipFill>
        <p:spPr>
          <a:xfrm>
            <a:off x="2371238" y="3225913"/>
            <a:ext cx="4401523" cy="5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13bde218bd_1_53"/>
          <p:cNvPicPr preferRelativeResize="0"/>
          <p:nvPr/>
        </p:nvPicPr>
        <p:blipFill rotWithShape="1">
          <a:blip r:embed="rId3">
            <a:alphaModFix/>
          </a:blip>
          <a:srcRect l="83856" t="45688" r="11824" b="47370"/>
          <a:stretch/>
        </p:blipFill>
        <p:spPr>
          <a:xfrm>
            <a:off x="2091280" y="5837275"/>
            <a:ext cx="460877" cy="41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13bde218bd_1_53"/>
          <p:cNvPicPr preferRelativeResize="0"/>
          <p:nvPr/>
        </p:nvPicPr>
        <p:blipFill rotWithShape="1">
          <a:blip r:embed="rId3">
            <a:alphaModFix/>
          </a:blip>
          <a:srcRect l="83664" t="39743" r="12514" b="54291"/>
          <a:stretch/>
        </p:blipFill>
        <p:spPr>
          <a:xfrm>
            <a:off x="7254650" y="2450625"/>
            <a:ext cx="460877" cy="40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13bde218bd_1_53"/>
          <p:cNvPicPr preferRelativeResize="0"/>
          <p:nvPr/>
        </p:nvPicPr>
        <p:blipFill rotWithShape="1">
          <a:blip r:embed="rId3">
            <a:alphaModFix/>
          </a:blip>
          <a:srcRect l="90012" t="38367" r="5745" b="54075"/>
          <a:stretch/>
        </p:blipFill>
        <p:spPr>
          <a:xfrm>
            <a:off x="2016000" y="3849225"/>
            <a:ext cx="460877" cy="461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13bde218bd_1_53"/>
          <p:cNvPicPr preferRelativeResize="0"/>
          <p:nvPr/>
        </p:nvPicPr>
        <p:blipFill rotWithShape="1">
          <a:blip r:embed="rId3">
            <a:alphaModFix/>
          </a:blip>
          <a:srcRect l="54701" t="44730" r="4058" b="46729"/>
          <a:stretch/>
        </p:blipFill>
        <p:spPr>
          <a:xfrm>
            <a:off x="2371238" y="5221013"/>
            <a:ext cx="4401523" cy="5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3bde218bd_1_66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</a:t>
            </a:fld>
            <a:endParaRPr/>
          </a:p>
        </p:txBody>
      </p:sp>
      <p:sp>
        <p:nvSpPr>
          <p:cNvPr id="236" name="Google Shape;236;g313bde218bd_1_66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13bde218bd_1_66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multi-layer perceptron (MLP) (3rd sub-block) is used to update the query: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cross-attention layer (4th sub-block) is used to adapt the context features for optical flow estimation: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313bde218bd_1_66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</a:t>
            </a:fld>
            <a:endParaRPr/>
          </a:p>
        </p:txBody>
      </p:sp>
      <p:pic>
        <p:nvPicPr>
          <p:cNvPr id="239" name="Google Shape;239;g313bde218bd_1_66"/>
          <p:cNvPicPr preferRelativeResize="0"/>
          <p:nvPr/>
        </p:nvPicPr>
        <p:blipFill rotWithShape="1">
          <a:blip r:embed="rId3">
            <a:alphaModFix/>
          </a:blip>
          <a:srcRect l="54701" t="59558" r="4058" b="31901"/>
          <a:stretch/>
        </p:blipFill>
        <p:spPr>
          <a:xfrm>
            <a:off x="2371250" y="4549825"/>
            <a:ext cx="4401499" cy="5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13bde218bd_1_66"/>
          <p:cNvPicPr preferRelativeResize="0"/>
          <p:nvPr/>
        </p:nvPicPr>
        <p:blipFill rotWithShape="1">
          <a:blip r:embed="rId3">
            <a:alphaModFix/>
          </a:blip>
          <a:srcRect l="62334" t="52022" r="11911" b="39437"/>
          <a:stretch/>
        </p:blipFill>
        <p:spPr>
          <a:xfrm>
            <a:off x="3194975" y="2960750"/>
            <a:ext cx="2748624" cy="5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016e1207ff_3_174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13</a:t>
            </a:fld>
            <a:endParaRPr/>
          </a:p>
        </p:txBody>
      </p:sp>
      <p:sp>
        <p:nvSpPr>
          <p:cNvPr id="247" name="Google Shape;247;g3016e1207ff_3_174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g3016e1207ff_3_174"/>
          <p:cNvSpPr txBox="1"/>
          <p:nvPr/>
        </p:nvSpPr>
        <p:spPr>
          <a:xfrm>
            <a:off x="684200" y="1989123"/>
            <a:ext cx="7632600" cy="44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constrained layer (GCL) fortified with a learnable Gaussian kernel, naturally prioritizes the local surroundings of each pixel, thus effectively enhances the feature discrimination for cross-frame matching.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GCL can obtain the fine-grained structural information and locally discriminative representations for feature matching.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g3016e1207ff_3_174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835d13280e_2_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14</a:t>
            </a:fld>
            <a:endParaRPr/>
          </a:p>
        </p:txBody>
      </p:sp>
      <p:sp>
        <p:nvSpPr>
          <p:cNvPr id="256" name="Google Shape;256;g2835d13280e_2_0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g2835d13280e_2_0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shown in Fig. 5, GCL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integrated into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FlowFormer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++ encoder, which processes extracted features before generating the cost volume.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g2835d13280e_2_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14</a:t>
            </a:fld>
            <a:endParaRPr/>
          </a:p>
        </p:txBody>
      </p:sp>
      <p:pic>
        <p:nvPicPr>
          <p:cNvPr id="259" name="Google Shape;259;g2835d13280e_2_0"/>
          <p:cNvPicPr preferRelativeResize="0"/>
          <p:nvPr/>
        </p:nvPicPr>
        <p:blipFill rotWithShape="1">
          <a:blip r:embed="rId3">
            <a:alphaModFix/>
          </a:blip>
          <a:srcRect l="27832" t="42082" r="26756" b="34219"/>
          <a:stretch/>
        </p:blipFill>
        <p:spPr>
          <a:xfrm>
            <a:off x="1514800" y="3510588"/>
            <a:ext cx="6114401" cy="199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835d13280e_2_0"/>
          <p:cNvSpPr txBox="1"/>
          <p:nvPr/>
        </p:nvSpPr>
        <p:spPr>
          <a:xfrm>
            <a:off x="1123050" y="5581050"/>
            <a:ext cx="689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rchitecture of the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proposed cost volume encoder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800"/>
          </a:p>
        </p:txBody>
      </p:sp>
      <p:sp>
        <p:nvSpPr>
          <p:cNvPr id="261" name="Google Shape;261;g2835d13280e_2_0"/>
          <p:cNvSpPr txBox="1"/>
          <p:nvPr/>
        </p:nvSpPr>
        <p:spPr>
          <a:xfrm>
            <a:off x="6828475" y="4238163"/>
            <a:ext cx="1155900" cy="539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Cost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Volume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2" name="Google Shape;262;g2835d13280e_2_0"/>
          <p:cNvSpPr/>
          <p:nvPr/>
        </p:nvSpPr>
        <p:spPr>
          <a:xfrm>
            <a:off x="1805475" y="3776825"/>
            <a:ext cx="767700" cy="369300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2835d13280e_2_0"/>
          <p:cNvSpPr/>
          <p:nvPr/>
        </p:nvSpPr>
        <p:spPr>
          <a:xfrm>
            <a:off x="1805475" y="4777275"/>
            <a:ext cx="767700" cy="369300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g2835d13280e_2_0"/>
          <p:cNvSpPr txBox="1"/>
          <p:nvPr/>
        </p:nvSpPr>
        <p:spPr>
          <a:xfrm>
            <a:off x="1710700" y="3691525"/>
            <a:ext cx="10095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smtClean="0">
                <a:solidFill>
                  <a:schemeClr val="dk1"/>
                </a:solidFill>
              </a:rPr>
              <a:t>source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smtClean="0">
                <a:solidFill>
                  <a:schemeClr val="dk1"/>
                </a:solidFill>
              </a:rPr>
              <a:t>frame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65" name="Google Shape;265;g2835d13280e_2_0"/>
          <p:cNvSpPr txBox="1"/>
          <p:nvPr/>
        </p:nvSpPr>
        <p:spPr>
          <a:xfrm>
            <a:off x="1710700" y="4705575"/>
            <a:ext cx="10095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smtClean="0">
                <a:solidFill>
                  <a:schemeClr val="dk1"/>
                </a:solidFill>
              </a:rPr>
              <a:t>target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smtClean="0">
                <a:solidFill>
                  <a:schemeClr val="dk1"/>
                </a:solidFill>
              </a:rPr>
              <a:t>frame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66" name="Google Shape;266;g2835d13280e_2_0"/>
          <p:cNvSpPr txBox="1"/>
          <p:nvPr/>
        </p:nvSpPr>
        <p:spPr>
          <a:xfrm>
            <a:off x="4211000" y="3691525"/>
            <a:ext cx="579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endParaRPr sz="1200" i="1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7" name="Google Shape;267;g2835d13280e_2_0"/>
          <p:cNvSpPr txBox="1"/>
          <p:nvPr/>
        </p:nvSpPr>
        <p:spPr>
          <a:xfrm>
            <a:off x="4211000" y="4705575"/>
            <a:ext cx="579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endParaRPr sz="1200" i="1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8" name="Google Shape;268;g2835d13280e_2_0"/>
          <p:cNvSpPr txBox="1"/>
          <p:nvPr/>
        </p:nvSpPr>
        <p:spPr>
          <a:xfrm>
            <a:off x="5752625" y="3691525"/>
            <a:ext cx="579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endParaRPr sz="1200" i="1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69" name="Google Shape;269;g2835d13280e_2_0"/>
          <p:cNvSpPr txBox="1"/>
          <p:nvPr/>
        </p:nvSpPr>
        <p:spPr>
          <a:xfrm>
            <a:off x="5752625" y="4705575"/>
            <a:ext cx="5790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endParaRPr sz="1200" i="1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835d13280e_1_69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fld>
            <a:endParaRPr/>
          </a:p>
        </p:txBody>
      </p:sp>
      <p:sp>
        <p:nvSpPr>
          <p:cNvPr id="276" name="Google Shape;276;g2835d13280e_1_69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/>
          </a:p>
        </p:txBody>
      </p:sp>
      <p:sp>
        <p:nvSpPr>
          <p:cNvPr id="277" name="Google Shape;277;g2835d13280e_1_69"/>
          <p:cNvSpPr txBox="1"/>
          <p:nvPr/>
        </p:nvSpPr>
        <p:spPr>
          <a:xfrm>
            <a:off x="684200" y="1989122"/>
            <a:ext cx="7632600" cy="4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input feature 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output 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GCL is defined as: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</a:t>
            </a:r>
            <a:r>
              <a:rPr lang="en-US" sz="2400" i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GCA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(Gaussian constrained attention) is a task-specific local operation: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 smtClean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FFN</a:t>
            </a:r>
            <a:r>
              <a:rPr lang="en-US" sz="2400" dirty="0" smtClean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lang="en-US" sz="24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∙)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denotes feed-forward </a:t>
            </a: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network,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400" i="1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LN</a:t>
            </a:r>
            <a:r>
              <a:rPr lang="en-US" sz="24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(∙)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denotes layer normalization.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g2835d13280e_1_69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fld>
            <a:endParaRPr/>
          </a:p>
        </p:txBody>
      </p:sp>
      <p:pic>
        <p:nvPicPr>
          <p:cNvPr id="279" name="Google Shape;279;g2835d13280e_1_69"/>
          <p:cNvPicPr preferRelativeResize="0"/>
          <p:nvPr/>
        </p:nvPicPr>
        <p:blipFill rotWithShape="1">
          <a:blip r:embed="rId3">
            <a:alphaModFix/>
          </a:blip>
          <a:srcRect l="35404" t="46197" r="36589" b="45617"/>
          <a:stretch/>
        </p:blipFill>
        <p:spPr>
          <a:xfrm>
            <a:off x="1838050" y="2530050"/>
            <a:ext cx="5467901" cy="89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44203" r="36087" b="32802"/>
          <a:stretch/>
        </p:blipFill>
        <p:spPr>
          <a:xfrm>
            <a:off x="2252922" y="4263886"/>
            <a:ext cx="4495155" cy="140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835d13280e_1_6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fld>
            <a:endParaRPr/>
          </a:p>
        </p:txBody>
      </p:sp>
      <p:sp>
        <p:nvSpPr>
          <p:cNvPr id="287" name="Google Shape;287;g2835d13280e_1_60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Approach (cont.)</a:t>
            </a:r>
            <a:endParaRPr/>
          </a:p>
        </p:txBody>
      </p:sp>
      <p:sp>
        <p:nvSpPr>
          <p:cNvPr id="288" name="Google Shape;288;g2835d13280e_1_60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2835d13280e_1_6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Google Shape;290;g2835d13280e_1_60"/>
              <p:cNvSpPr txBox="1"/>
              <p:nvPr/>
            </p:nvSpPr>
            <p:spPr>
              <a:xfrm>
                <a:off x="684212" y="1989137"/>
                <a:ext cx="7632600" cy="381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marR="0" lvl="0" indent="-34290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D2D8A"/>
                  </a:buClr>
                  <a:buSzPts val="2400"/>
                  <a:buFont typeface="Times New Roman"/>
                  <a:buChar char="•"/>
                </a:pPr>
                <a:r>
                  <a:rPr lang="en-US" sz="24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 this study,</a:t>
                </a:r>
                <a:endParaRPr lang="en-US"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TW" altLang="en-US" sz="2100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sz="2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10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TW" sz="210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zh-TW" altLang="zh-TW" sz="2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  <m:r>
                          <a:rPr lang="en-US" altLang="zh-TW" sz="210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zh-TW" altLang="zh-TW" sz="2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</m:d>
                    <m:r>
                      <a:rPr lang="en-US" altLang="zh-TW" sz="2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100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altLang="zh-TW" sz="21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𝑙𝑟</m:t>
                        </m:r>
                      </m:sub>
                    </m:sSub>
                    <m:r>
                      <a:rPr lang="en-US" altLang="zh-TW" sz="2100">
                        <a:latin typeface="Cambria Math" panose="02040503050406030204" pitchFamily="18" charset="0"/>
                      </a:rPr>
                      <m:t>∙(</m:t>
                    </m:r>
                    <m:r>
                      <m:rPr>
                        <m:sty m:val="p"/>
                      </m:rPr>
                      <a:rPr lang="en-US" altLang="zh-TW" sz="2100">
                        <a:latin typeface="Cambria Math" panose="02040503050406030204" pitchFamily="18" charset="0"/>
                      </a:rPr>
                      <m:t>Q</m:t>
                    </m:r>
                    <m:sSup>
                      <m:sSup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zh-TW" altLang="zh-TW" sz="2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p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2100">
                        <a:latin typeface="Cambria Math" panose="02040503050406030204" pitchFamily="18" charset="0"/>
                      </a:rPr>
                      <m:t>)/</m:t>
                    </m:r>
                    <m:rad>
                      <m:radPr>
                        <m:degHide m:val="on"/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  <m:r>
                      <a:rPr lang="en-US" altLang="zh-TW" sz="2100">
                        <a:latin typeface="Cambria Math" panose="02040503050406030204" pitchFamily="18" charset="0"/>
                      </a:rPr>
                      <m:t>)∙</m:t>
                    </m:r>
                    <m:acc>
                      <m:accPr>
                        <m:chr m:val="̅"/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altLang="zh-TW" sz="21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TW" altLang="zh-TW" sz="2100" dirty="0"/>
              </a:p>
              <a:p>
                <a:pPr algn="just">
                  <a:lnSpc>
                    <a:spcPct val="150000"/>
                  </a:lnSpc>
                  <a:buClr>
                    <a:srgbClr val="2D2D8A"/>
                  </a:buClr>
                  <a:buSzPts val="2400"/>
                </a:pPr>
                <a:r>
                  <a:rPr lang="zh-TW" altLang="en-US" sz="2100" dirty="0" smtClean="0">
                    <a:solidFill>
                      <a:schemeClr val="dk1"/>
                    </a:solidFill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  <m:r>
                      <a:rPr lang="zh-TW" altLang="en-US" sz="21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  <m:r>
                      <a:rPr lang="zh-TW" altLang="en-US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  <m:r>
                      <a:rPr lang="zh-TW" altLang="en-US" sz="21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  <m:r>
                      <a:rPr lang="zh-TW" altLang="en-US" sz="21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  <m:sSub>
                      <m:sSubPr>
                        <m:ctrlPr>
                          <a:rPr lang="ar-AE" altLang="zh-TW" sz="21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ar-AE" altLang="zh-TW" sz="21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h</m:t>
                        </m:r>
                      </m:e>
                      <m:sub>
                        <m:r>
                          <a:rPr lang="en-US" altLang="zh-TW" sz="21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𝑝</m:t>
                        </m:r>
                      </m:sub>
                    </m:sSub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, </m:t>
                    </m:r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𝑝</m:t>
                    </m:r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=</m:t>
                    </m:r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1</m:t>
                    </m:r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, </m:t>
                    </m:r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2</m:t>
                    </m:r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, …, </m:t>
                    </m:r>
                    <m:r>
                      <a:rPr lang="en-US" altLang="zh-TW" sz="21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𝑛</m:t>
                    </m:r>
                  </m:oMath>
                </a14:m>
                <a:r>
                  <a:rPr lang="en-US" sz="21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-US" sz="24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is </a:t>
                </a:r>
                <a:r>
                  <a:rPr lang="en-US" sz="24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defined a</a:t>
                </a:r>
                <a:r>
                  <a:rPr lang="en-US" sz="24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</a:t>
                </a:r>
              </a:p>
              <a:p>
                <a:pPr>
                  <a:lnSpc>
                    <a:spcPct val="150000"/>
                  </a:lnSpc>
                </a:pPr>
                <a:r>
                  <a:rPr lang="zh-TW" altLang="en-US" sz="2100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sz="2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1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100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lang="en-US" altLang="zh-TW" sz="2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𝑙𝑟</m:t>
                        </m:r>
                      </m:sub>
                    </m:sSub>
                    <m:r>
                      <a:rPr lang="en-US" altLang="zh-TW" sz="2100">
                        <a:latin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ctrlPr>
                              <a:rPr lang="zh-TW" altLang="zh-TW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zh-TW" sz="2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1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zh-TW" altLang="zh-TW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1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sub>
                            </m:sSub>
                            <m:acc>
                              <m:accPr>
                                <m:chr m:val="̅"/>
                                <m:ctrlPr>
                                  <a:rPr lang="zh-TW" altLang="zh-TW" sz="2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1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TW" altLang="zh-TW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sub>
                      <m:sup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sz="2100" i="1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  <m:r>
                      <a:rPr lang="en-US" altLang="zh-TW" sz="21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sz="2100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zh-TW" altLang="zh-TW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zh-TW" sz="2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1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1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zh-TW" sz="21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TW" altLang="zh-TW" sz="2100" dirty="0"/>
              </a:p>
              <a:p>
                <a:pPr algn="just">
                  <a:lnSpc>
                    <a:spcPct val="150000"/>
                  </a:lnSpc>
                  <a:buClr>
                    <a:srgbClr val="2D2D8A"/>
                  </a:buClr>
                  <a:buSzPts val="2400"/>
                </a:pPr>
                <a:r>
                  <a:rPr lang="zh-TW" altLang="en-US" sz="24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</a:t>
                </a:r>
                <a:r>
                  <a:rPr lang="en-US" sz="24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𝐶𝑜𝑛𝑐𝑎𝑡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(∙, ∙, …, ∙)</m:t>
                    </m:r>
                  </m:oMath>
                </a14:m>
                <a:r>
                  <a:rPr lang="en-US" sz="2400" i="1" dirty="0" smtClean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 </a:t>
                </a:r>
                <a:r>
                  <a:rPr lang="en-US" sz="24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denotes concatenation operation.</a:t>
                </a:r>
              </a:p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290" name="Google Shape;290;g2835d13280e_1_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12" y="1989137"/>
                <a:ext cx="7632600" cy="3816300"/>
              </a:xfrm>
              <a:prstGeom prst="rect">
                <a:avLst/>
              </a:prstGeom>
              <a:blipFill>
                <a:blip r:embed="rId3"/>
                <a:stretch>
                  <a:fillRect l="-1038" t="-1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6956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18953982dc_0_8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17</a:t>
            </a:fld>
            <a:endParaRPr/>
          </a:p>
        </p:txBody>
      </p:sp>
      <p:sp>
        <p:nvSpPr>
          <p:cNvPr id="300" name="Google Shape;300;g318953982dc_0_80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g318953982dc_0_8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17</a:t>
            </a:fld>
            <a:endParaRPr/>
          </a:p>
        </p:txBody>
      </p:sp>
      <p:sp>
        <p:nvSpPr>
          <p:cNvPr id="302" name="Google Shape;302;g318953982dc_0_80"/>
          <p:cNvSpPr txBox="1"/>
          <p:nvPr/>
        </p:nvSpPr>
        <p:spPr>
          <a:xfrm>
            <a:off x="1098000" y="4672589"/>
            <a:ext cx="6948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Visual comparisons between FlowFormer++ and the proposed approach on two samples of Sintel dataset.</a:t>
            </a:r>
            <a:endParaRPr sz="1800"/>
          </a:p>
        </p:txBody>
      </p:sp>
      <p:sp>
        <p:nvSpPr>
          <p:cNvPr id="304" name="Google Shape;304;g318953982dc_0_80"/>
          <p:cNvSpPr txBox="1"/>
          <p:nvPr/>
        </p:nvSpPr>
        <p:spPr>
          <a:xfrm>
            <a:off x="4634513" y="4224533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dirty="0" err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FlowFormer</a:t>
            </a:r>
            <a:r>
              <a:rPr lang="en-US" sz="18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++</a:t>
            </a:r>
            <a:endParaRPr sz="1800" dirty="0"/>
          </a:p>
        </p:txBody>
      </p:sp>
      <p:sp>
        <p:nvSpPr>
          <p:cNvPr id="305" name="Google Shape;305;g318953982dc_0_80"/>
          <p:cNvSpPr txBox="1"/>
          <p:nvPr/>
        </p:nvSpPr>
        <p:spPr>
          <a:xfrm>
            <a:off x="6741900" y="4224533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Proposed</a:t>
            </a:r>
            <a:endParaRPr sz="1800"/>
          </a:p>
        </p:txBody>
      </p:sp>
      <p:grpSp>
        <p:nvGrpSpPr>
          <p:cNvPr id="306" name="Google Shape;306;g318953982dc_0_80"/>
          <p:cNvGrpSpPr/>
          <p:nvPr/>
        </p:nvGrpSpPr>
        <p:grpSpPr>
          <a:xfrm>
            <a:off x="4634576" y="2403862"/>
            <a:ext cx="2011680" cy="864983"/>
            <a:chOff x="3266900" y="2196000"/>
            <a:chExt cx="2610199" cy="1111375"/>
          </a:xfrm>
        </p:grpSpPr>
        <p:pic>
          <p:nvPicPr>
            <p:cNvPr id="307" name="Google Shape;307;g318953982dc_0_8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66900" y="2196000"/>
              <a:ext cx="2610199" cy="111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g318953982dc_0_80"/>
            <p:cNvSpPr/>
            <p:nvPr/>
          </p:nvSpPr>
          <p:spPr>
            <a:xfrm>
              <a:off x="3946400" y="2895550"/>
              <a:ext cx="382800" cy="3693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9" name="Google Shape;309;g318953982dc_0_80"/>
          <p:cNvGrpSpPr/>
          <p:nvPr/>
        </p:nvGrpSpPr>
        <p:grpSpPr>
          <a:xfrm>
            <a:off x="6741961" y="2403862"/>
            <a:ext cx="2011680" cy="864983"/>
            <a:chOff x="6070650" y="2196000"/>
            <a:chExt cx="2610199" cy="1111375"/>
          </a:xfrm>
        </p:grpSpPr>
        <p:pic>
          <p:nvPicPr>
            <p:cNvPr id="310" name="Google Shape;310;g318953982dc_0_8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70650" y="2196000"/>
              <a:ext cx="2610199" cy="111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g318953982dc_0_80"/>
            <p:cNvSpPr/>
            <p:nvPr/>
          </p:nvSpPr>
          <p:spPr>
            <a:xfrm>
              <a:off x="6765800" y="2895550"/>
              <a:ext cx="382800" cy="3693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2" name="Google Shape;312;g318953982dc_0_80"/>
          <p:cNvGrpSpPr/>
          <p:nvPr/>
        </p:nvGrpSpPr>
        <p:grpSpPr>
          <a:xfrm>
            <a:off x="419796" y="2403864"/>
            <a:ext cx="2011680" cy="864983"/>
            <a:chOff x="463150" y="2196000"/>
            <a:chExt cx="2610199" cy="1111375"/>
          </a:xfrm>
        </p:grpSpPr>
        <p:pic>
          <p:nvPicPr>
            <p:cNvPr id="313" name="Google Shape;313;g318953982dc_0_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3150" y="2196000"/>
              <a:ext cx="2610199" cy="111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g318953982dc_0_80"/>
            <p:cNvSpPr/>
            <p:nvPr/>
          </p:nvSpPr>
          <p:spPr>
            <a:xfrm>
              <a:off x="1127000" y="2895550"/>
              <a:ext cx="382800" cy="3693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5" name="Google Shape;315;g318953982dc_0_80"/>
          <p:cNvGrpSpPr/>
          <p:nvPr/>
        </p:nvGrpSpPr>
        <p:grpSpPr>
          <a:xfrm>
            <a:off x="419800" y="3360661"/>
            <a:ext cx="2011680" cy="868651"/>
            <a:chOff x="463100" y="3506300"/>
            <a:chExt cx="2610199" cy="1111375"/>
          </a:xfrm>
        </p:grpSpPr>
        <p:pic>
          <p:nvPicPr>
            <p:cNvPr id="316" name="Google Shape;316;g318953982dc_0_8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3100" y="3506300"/>
              <a:ext cx="2610199" cy="111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g318953982dc_0_80"/>
            <p:cNvSpPr/>
            <p:nvPr/>
          </p:nvSpPr>
          <p:spPr>
            <a:xfrm>
              <a:off x="1605075" y="3926575"/>
              <a:ext cx="537600" cy="5127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" name="Google Shape;318;g318953982dc_0_80"/>
            <p:cNvSpPr/>
            <p:nvPr/>
          </p:nvSpPr>
          <p:spPr>
            <a:xfrm>
              <a:off x="1302725" y="3767175"/>
              <a:ext cx="238200" cy="2877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19" name="Google Shape;319;g318953982dc_0_80"/>
          <p:cNvGrpSpPr/>
          <p:nvPr/>
        </p:nvGrpSpPr>
        <p:grpSpPr>
          <a:xfrm>
            <a:off x="4634560" y="3362497"/>
            <a:ext cx="2011726" cy="864983"/>
            <a:chOff x="3266841" y="3506300"/>
            <a:chExt cx="2610258" cy="1111375"/>
          </a:xfrm>
        </p:grpSpPr>
        <p:pic>
          <p:nvPicPr>
            <p:cNvPr id="320" name="Google Shape;320;g318953982dc_0_8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266841" y="3506300"/>
              <a:ext cx="2610258" cy="111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g318953982dc_0_80"/>
            <p:cNvSpPr/>
            <p:nvPr/>
          </p:nvSpPr>
          <p:spPr>
            <a:xfrm>
              <a:off x="4381950" y="3926575"/>
              <a:ext cx="537600" cy="5127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g318953982dc_0_80"/>
            <p:cNvSpPr/>
            <p:nvPr/>
          </p:nvSpPr>
          <p:spPr>
            <a:xfrm>
              <a:off x="4122125" y="3767175"/>
              <a:ext cx="238200" cy="2877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3" name="Google Shape;323;g318953982dc_0_80"/>
          <p:cNvGrpSpPr/>
          <p:nvPr/>
        </p:nvGrpSpPr>
        <p:grpSpPr>
          <a:xfrm>
            <a:off x="6741962" y="3362497"/>
            <a:ext cx="2011680" cy="864983"/>
            <a:chOff x="6070650" y="3506288"/>
            <a:chExt cx="2610199" cy="1111375"/>
          </a:xfrm>
        </p:grpSpPr>
        <p:pic>
          <p:nvPicPr>
            <p:cNvPr id="324" name="Google Shape;324;g318953982dc_0_8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070650" y="3506288"/>
              <a:ext cx="2610199" cy="1111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g318953982dc_0_80"/>
            <p:cNvSpPr/>
            <p:nvPr/>
          </p:nvSpPr>
          <p:spPr>
            <a:xfrm>
              <a:off x="7201350" y="3926575"/>
              <a:ext cx="537600" cy="5127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g318953982dc_0_80"/>
            <p:cNvSpPr/>
            <p:nvPr/>
          </p:nvSpPr>
          <p:spPr>
            <a:xfrm>
              <a:off x="6941525" y="3767175"/>
              <a:ext cx="238200" cy="2877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27" name="Google Shape;327;g318953982dc_0_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27175" y="3362476"/>
            <a:ext cx="2011681" cy="86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18953982dc_0_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27188" y="2403848"/>
            <a:ext cx="2011681" cy="86502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04;g318953982dc_0_80"/>
          <p:cNvSpPr txBox="1"/>
          <p:nvPr/>
        </p:nvSpPr>
        <p:spPr>
          <a:xfrm>
            <a:off x="2527175" y="4224533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dirty="0" smtClean="0">
                <a:solidFill>
                  <a:schemeClr val="dk1"/>
                </a:solidFill>
                <a:latin typeface="Times"/>
                <a:cs typeface="Times"/>
                <a:sym typeface="Times"/>
              </a:rPr>
              <a:t>Target frame</a:t>
            </a:r>
            <a:endParaRPr sz="1800" dirty="0"/>
          </a:p>
        </p:txBody>
      </p:sp>
      <p:sp>
        <p:nvSpPr>
          <p:cNvPr id="37" name="Google Shape;304;g318953982dc_0_80"/>
          <p:cNvSpPr txBox="1"/>
          <p:nvPr/>
        </p:nvSpPr>
        <p:spPr>
          <a:xfrm>
            <a:off x="419676" y="4226405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 dirty="0" smtClean="0">
                <a:solidFill>
                  <a:schemeClr val="dk1"/>
                </a:solidFill>
                <a:latin typeface="Times"/>
                <a:cs typeface="Times"/>
                <a:sym typeface="Times"/>
              </a:rPr>
              <a:t>Source frame</a:t>
            </a:r>
            <a:endParaRPr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183c9bf7c_0_28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</a:t>
            </a:fld>
            <a:endParaRPr/>
          </a:p>
        </p:txBody>
      </p:sp>
      <p:sp>
        <p:nvSpPr>
          <p:cNvPr id="339" name="Google Shape;339;g31183c9bf7c_0_28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31183c9bf7c_0_28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</a:t>
            </a:fld>
            <a:endParaRPr/>
          </a:p>
        </p:txBody>
      </p:sp>
      <p:pic>
        <p:nvPicPr>
          <p:cNvPr id="341" name="Google Shape;341;g31183c9bf7c_0_28" title="combin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87675"/>
            <a:ext cx="8839204" cy="188178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1183c9bf7c_0_28"/>
          <p:cNvSpPr txBox="1"/>
          <p:nvPr/>
        </p:nvSpPr>
        <p:spPr>
          <a:xfrm>
            <a:off x="1098000" y="5128688"/>
            <a:ext cx="6948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Fig. 7</a:t>
            </a:r>
            <a:r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Visual comparisons between FlowFormer++ and the proposed approach on one video sequence of Sintel dataset.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56523b3fe_0_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19</a:t>
            </a:fld>
            <a:endParaRPr/>
          </a:p>
        </p:txBody>
      </p:sp>
      <p:sp>
        <p:nvSpPr>
          <p:cNvPr id="349" name="Google Shape;349;g3156523b3fe_0_0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 (cont.)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g3156523b3fe_0_0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19</a:t>
            </a:fld>
            <a:endParaRPr/>
          </a:p>
        </p:txBody>
      </p:sp>
      <p:graphicFrame>
        <p:nvGraphicFramePr>
          <p:cNvPr id="351" name="Google Shape;351;g3156523b3fe_0_0"/>
          <p:cNvGraphicFramePr/>
          <p:nvPr/>
        </p:nvGraphicFramePr>
        <p:xfrm>
          <a:off x="769375" y="3124200"/>
          <a:ext cx="7764900" cy="2427612"/>
        </p:xfrm>
        <a:graphic>
          <a:graphicData uri="http://schemas.openxmlformats.org/drawingml/2006/table">
            <a:tbl>
              <a:tblPr>
                <a:noFill/>
                <a:tableStyleId>{D812DD1A-9E72-4A71-84A1-A7A80AC88F0D}</a:tableStyleId>
              </a:tblPr>
              <a:tblGrid>
                <a:gridCol w="20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Sintel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KITTI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75">
                <a:tc>
                  <a:txBody>
                    <a:bodyPr/>
                    <a:lstStyle/>
                    <a:p>
                      <a:pPr marL="4572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approaches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EPE-clean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EPE-final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EPE-F1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F1-all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FlowFormer++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2.30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3.93</a:t>
                      </a:r>
                      <a:endParaRPr sz="2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14.13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</a:t>
                      </a:r>
                      <a:endParaRPr sz="2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2.05</a:t>
                      </a:r>
                      <a:endParaRPr sz="2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3.96</a:t>
                      </a:r>
                      <a:endParaRPr sz="2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13.86</a:t>
                      </a:r>
                      <a:endParaRPr sz="21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2" name="Google Shape;352;g3156523b3fe_0_0"/>
          <p:cNvSpPr txBox="1"/>
          <p:nvPr/>
        </p:nvSpPr>
        <p:spPr>
          <a:xfrm>
            <a:off x="769375" y="2320575"/>
            <a:ext cx="7764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Table 1. In terms of average EPE and F1-all, performance comparisons between FlowFormer++ and the proposed approach on Sintel and KITTI datasets.</a:t>
            </a:r>
            <a:endParaRPr sz="1800"/>
          </a:p>
        </p:txBody>
      </p:sp>
      <p:cxnSp>
        <p:nvCxnSpPr>
          <p:cNvPr id="353" name="Google Shape;353;g3156523b3fe_0_0"/>
          <p:cNvCxnSpPr/>
          <p:nvPr/>
        </p:nvCxnSpPr>
        <p:spPr>
          <a:xfrm>
            <a:off x="769375" y="3627075"/>
            <a:ext cx="2065500" cy="8154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13bde218bd_1_85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20</a:t>
            </a:fld>
            <a:endParaRPr/>
          </a:p>
        </p:txBody>
      </p:sp>
      <p:sp>
        <p:nvSpPr>
          <p:cNvPr id="360" name="Google Shape;360;g313bde218bd_1_85"/>
          <p:cNvSpPr txBox="1"/>
          <p:nvPr/>
        </p:nvSpPr>
        <p:spPr>
          <a:xfrm>
            <a:off x="684212" y="549275"/>
            <a:ext cx="78501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/>
          </a:p>
        </p:txBody>
      </p:sp>
      <p:sp>
        <p:nvSpPr>
          <p:cNvPr id="361" name="Google Shape;361;g313bde218bd_1_85"/>
          <p:cNvSpPr txBox="1"/>
          <p:nvPr/>
        </p:nvSpPr>
        <p:spPr>
          <a:xfrm>
            <a:off x="684212" y="1989137"/>
            <a:ext cx="7632600" cy="3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study, a modified optical flow estimation approach with SAM and GCL is proposed.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D2D8A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the experimental results obtained in this study, in terms of two performance metrics and subjective evaluation, the performance of the proposed approach is better than that of FlowFormer++.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g313bde218bd_1_85"/>
          <p:cNvSpPr txBox="1"/>
          <p:nvPr/>
        </p:nvSpPr>
        <p:spPr>
          <a:xfrm>
            <a:off x="7092950" y="6205537"/>
            <a:ext cx="19050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</a:pPr>
            <a:endParaRPr sz="1400" b="0" i="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>
            <a:spLocks noGrp="1"/>
          </p:cNvSpPr>
          <p:nvPr>
            <p:ph type="body" idx="1"/>
          </p:nvPr>
        </p:nvSpPr>
        <p:spPr>
          <a:xfrm>
            <a:off x="685800" y="2997200"/>
            <a:ext cx="77724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attention!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6084887" y="609282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975</Words>
  <Application>Microsoft Office PowerPoint</Application>
  <PresentationFormat>如螢幕大小 (4:3)</PresentationFormat>
  <Paragraphs>225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Times</vt:lpstr>
      <vt:lpstr>Cambria Math</vt:lpstr>
      <vt:lpstr>Times New Roman</vt:lpstr>
      <vt:lpstr>Arial</vt:lpstr>
      <vt:lpstr>標楷體</vt:lpstr>
      <vt:lpstr>1_Blank Presentation</vt:lpstr>
      <vt:lpstr>Blank Presentation</vt:lpstr>
      <vt:lpstr> A Modified Optical Flow Estimation Approach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Modified Optical Flow Estimation Approach</dc:title>
  <dc:creator>Juliana</dc:creator>
  <cp:lastModifiedBy>王昱人</cp:lastModifiedBy>
  <cp:revision>10</cp:revision>
  <dcterms:created xsi:type="dcterms:W3CDTF">2003-04-22T04:04:07Z</dcterms:created>
  <dcterms:modified xsi:type="dcterms:W3CDTF">2024-11-28T15:50:29Z</dcterms:modified>
</cp:coreProperties>
</file>